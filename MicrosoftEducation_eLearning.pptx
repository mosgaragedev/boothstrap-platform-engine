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E5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E5A"/>
                </a:solidFill>
                <a:latin typeface="Arial"/>
              </a:rPr>
              <a:t>Cost Comparison (Core Tier)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per User (USD)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8D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6F9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Google Workspace
for Edu</c:v>
                  </c:pt>
                  <c:pt idx="1">
                    <c:v>Canvas LMS</c:v>
                  </c:pt>
                  <c:pt idx="2">
                    <c:v>Blackboard
Learn</c:v>
                  </c:pt>
                  <c:pt idx="3">
                    <c:v>Microsoft 365
Education A1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120</c:v>
                </c:pt>
                <c:pt idx="2">
                  <c:v>210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C7E0F4">
              <a:alpha val="30000"/>
            </a:srgbClr>
          </a:solidFill>
          <a:ln w="12700">
            <a:solidFill>
              <a:srgbClr val="C7E0F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02920"/>
            <a:ext cx="868680" cy="868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72768" y="548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Best Choice for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 eLearning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educators, learners &amp; institutions worldwide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Education Through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Microsoft Education?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2011680" cy="1737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1.4B+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educators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1280160"/>
            <a:ext cx="2011680" cy="1737360"/>
          </a:xfrm>
          <a:prstGeom prst="rect">
            <a:avLst/>
          </a:prstGeom>
          <a:solidFill>
            <a:srgbClr val="0064A5"/>
          </a:solidFill>
          <a:ln w="12700">
            <a:solidFill>
              <a:srgbClr val="0064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41448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trusted EdTech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globally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4296" y="1280160"/>
            <a:ext cx="2011680" cy="1737360"/>
          </a:xfrm>
          <a:prstGeom prst="rect">
            <a:avLst/>
          </a:prstGeom>
          <a:solidFill>
            <a:srgbClr val="005A8E"/>
          </a:solidFill>
          <a:ln w="12700">
            <a:solidFill>
              <a:srgbClr val="005A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54296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apps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67144" y="1280160"/>
            <a:ext cx="2011680" cy="1737360"/>
          </a:xfrm>
          <a:prstGeom prst="rect">
            <a:avLst/>
          </a:prstGeom>
          <a:solidFill>
            <a:srgbClr val="004F7C"/>
          </a:solidFill>
          <a:ln w="12700">
            <a:solidFill>
              <a:srgbClr val="004F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67144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Stands Apart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across devices, apps &amp; identity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 built natively into the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scale – from K-12 to higher education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cost-effective licensing for institutions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160520" cy="1737360"/>
          </a:xfrm>
          <a:prstGeom prst="rect">
            <a:avLst/>
          </a:prstGeom>
          <a:solidFill>
            <a:srgbClr val="C7E0F4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004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Trusted by institutions in 190+ countries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30M+ Teams for Education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Leader in Gartner Magic Quadrant for UCC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Tools &amp; Ecosystem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" cy="1600200"/>
          </a:xfrm>
          <a:prstGeom prst="rect">
            <a:avLst/>
          </a:prstGeom>
          <a:solidFill>
            <a:srgbClr val="5059C9"/>
          </a:solidFill>
          <a:ln w="12700">
            <a:solidFill>
              <a:srgbClr val="505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502920" cy="502920"/>
          </a:xfrm>
          <a:prstGeom prst="ellipse">
            <a:avLst/>
          </a:prstGeom>
          <a:solidFill>
            <a:srgbClr val="5059C9"/>
          </a:solidFill>
          <a:ln w="12700">
            <a:solidFill>
              <a:srgbClr val="505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Teams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Education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meetings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64008" cy="1600200"/>
          </a:xfrm>
          <a:prstGeom prst="rect">
            <a:avLst/>
          </a:prstGeom>
          <a:solidFill>
            <a:srgbClr val="7719AA"/>
          </a:solidFill>
          <a:ln w="12700">
            <a:solidFill>
              <a:srgbClr val="771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25880"/>
            <a:ext cx="502920" cy="502920"/>
          </a:xfrm>
          <a:prstGeom prst="ellipse">
            <a:avLst/>
          </a:prstGeom>
          <a:solidFill>
            <a:srgbClr val="7719AA"/>
          </a:solidFill>
          <a:ln w="12700">
            <a:solidFill>
              <a:srgbClr val="7719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50208" y="12801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OneNote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Notebook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notebooks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notes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64008" cy="16002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LRN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76288" y="12801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9659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self-paced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pathways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17520"/>
            <a:ext cx="64008" cy="1600200"/>
          </a:xfrm>
          <a:prstGeom prst="rect">
            <a:avLst/>
          </a:prstGeom>
          <a:solidFill>
            <a:srgbClr val="7DB700"/>
          </a:solidFill>
          <a:ln w="12700">
            <a:solidFill>
              <a:srgbClr val="7DB7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7DB700"/>
          </a:solidFill>
          <a:ln w="12700">
            <a:solidFill>
              <a:srgbClr val="7D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24128" y="3108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Minecraft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game-based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experiences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0175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17520"/>
            <a:ext cx="64008" cy="1600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15468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50208" y="3108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AI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37947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tutor, grading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&amp; insights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64008" cy="1600200"/>
          </a:xfrm>
          <a:prstGeom prst="rect">
            <a:avLst/>
          </a:prstGeom>
          <a:solidFill>
            <a:srgbClr val="03787C"/>
          </a:solidFill>
          <a:ln w="12700">
            <a:solidFill>
              <a:srgbClr val="0378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03787C"/>
          </a:solidFill>
          <a:ln w="12700">
            <a:solidFill>
              <a:srgbClr val="0378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76288" y="3108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SharePoint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37947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video learning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200400"/>
            <a:ext cx="3657600" cy="36576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C7E0F4">
              <a:alpha val="20000"/>
            </a:srgbClr>
          </a:solidFill>
          <a:ln w="12700">
            <a:solidFill>
              <a:srgbClr val="C7E0F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with Copilot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brings generative AI directly into the classroom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977640" cy="105156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Personalized Tutoring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07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adapts explanations to each student's pace and learning style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977640" cy="105156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542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Automated Grading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907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save hours with AI-assisted feedback on assignments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977640" cy="105156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76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Content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42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quizzes, lesson plans, and study guides instantly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3977640" cy="105156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776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Learning Analytics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142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 on engagement, progress and at-risk students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Security, Compliance &amp; Accessibility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7922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0848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Identity-first security across all access 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146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694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 &amp; GDPR Compliant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8620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for education data regulations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91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3467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639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protection for institutions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69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1239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&amp; SSO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4165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sign-on, MFA &amp; conditional access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Inclusive by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7373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17922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Reader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20848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support across 100+ languages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1460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146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25694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Captions &amp; Transcription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8620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captions in Teams meetings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29184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91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3467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Tools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639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language barriers for global learners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069080"/>
            <a:ext cx="3931920" cy="68580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069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0" y="412394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Compliant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44165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top accessibility standards worldwide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Cost-Effective &amp; Infinitely Scalable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3035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43000"/>
            <a:ext cx="2971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143000"/>
            <a:ext cx="64008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207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 A1 Plan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80760" y="15361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Office 365 suite for K-12 &amp; Higher Ed at zero cost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2057400"/>
            <a:ext cx="2971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2057400"/>
            <a:ext cx="64008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Scale to Millions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24505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scales seamlessly from 50 to 5M users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971800"/>
            <a:ext cx="2971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971800"/>
            <a:ext cx="64008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Vendor Lock-in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33649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APIs, integrations with 500+ EdTech tools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886200"/>
            <a:ext cx="2971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886200"/>
            <a:ext cx="64008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IT Cost Reduction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80760" y="42793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5+ tools into one Microsoft ecosystem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Impact &amp; Success Stories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77724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188720"/>
            <a:ext cx="1965960" cy="77724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645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188720"/>
            <a:ext cx="1965960" cy="77724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645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for Edu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188720"/>
            <a:ext cx="1965960" cy="777240"/>
          </a:xfrm>
          <a:prstGeom prst="rect">
            <a:avLst/>
          </a:prstGeom>
          <a:solidFill>
            <a:srgbClr val="0F2E5A"/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188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10M+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645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 Edu Players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2743200" cy="260604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4884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OpenCourseWare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2441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USA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7432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Microsoft Learn pathways reaching 30M+ learners annually with structured AI-assisted content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18688" y="2148840"/>
            <a:ext cx="2743200" cy="260604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14884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of Cape Town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28416" y="2441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Africa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27432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Teams for Education to 45,000 students, improving course completion rates by 38%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2148840"/>
            <a:ext cx="2743200" cy="2606040"/>
          </a:xfrm>
          <a:prstGeom prst="rect">
            <a:avLst/>
          </a:prstGeom>
          <a:solidFill>
            <a:srgbClr val="F3F9FF"/>
          </a:solidFill>
          <a:ln w="12700">
            <a:solidFill>
              <a:srgbClr val="C7E0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14884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Singapore MOE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2441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Asia-Pacific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274320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 of Microsoft 365 A3 to 350,000 students, enabling hybrid learning at national scale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78D4">
              <a:alpha val="15000"/>
            </a:srgbClr>
          </a:solidFill>
          <a:ln w="12700">
            <a:solidFill>
              <a:srgbClr val="0078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C7E0F4">
              <a:alpha val="15000"/>
            </a:srgbClr>
          </a:solidFill>
          <a:ln w="12700">
            <a:solidFill>
              <a:srgbClr val="C7E0F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 eLearning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Starts with Microsoft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828800" y="2560320"/>
            <a:ext cx="5486400" cy="521208"/>
          </a:xfrm>
          <a:prstGeom prst="rect">
            <a:avLst/>
          </a:prstGeom>
          <a:solidFill>
            <a:srgbClr val="0078D4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560320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with a Free A1 Plan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3218688"/>
            <a:ext cx="5486400" cy="521208"/>
          </a:xfrm>
          <a:prstGeom prst="rect">
            <a:avLst/>
          </a:prstGeom>
          <a:solidFill>
            <a:srgbClr val="0078D4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218688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Partner with Microsoft Education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877056"/>
            <a:ext cx="5486400" cy="521208"/>
          </a:xfrm>
          <a:prstGeom prst="rect">
            <a:avLst/>
          </a:prstGeom>
          <a:solidFill>
            <a:srgbClr val="0078D4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877056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Explore Microsoft Learn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microsoft.com/education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Education – The Best Choice for Innovative eLearning</dc:title>
  <dc:subject>PptxGenJS Presentation</dc:subject>
  <dc:creator>PptxGenJS</dc:creator>
  <cp:lastModifiedBy>PptxGenJS</cp:lastModifiedBy>
  <cp:revision>1</cp:revision>
  <dcterms:created xsi:type="dcterms:W3CDTF">2026-04-24T08:54:50Z</dcterms:created>
  <dcterms:modified xsi:type="dcterms:W3CDTF">2026-04-24T08:54:50Z</dcterms:modified>
</cp:coreProperties>
</file>